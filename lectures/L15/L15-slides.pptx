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2" r:id="rId1"/>
  </p:sldMasterIdLst>
  <p:notesMasterIdLst>
    <p:notesMasterId r:id="rId15"/>
  </p:notesMasterIdLst>
  <p:sldIdLst>
    <p:sldId id="315" r:id="rId2"/>
    <p:sldId id="476" r:id="rId3"/>
    <p:sldId id="477" r:id="rId4"/>
    <p:sldId id="479" r:id="rId5"/>
    <p:sldId id="480" r:id="rId6"/>
    <p:sldId id="482" r:id="rId7"/>
    <p:sldId id="483" r:id="rId8"/>
    <p:sldId id="481" r:id="rId9"/>
    <p:sldId id="485" r:id="rId10"/>
    <p:sldId id="486" r:id="rId11"/>
    <p:sldId id="487" r:id="rId12"/>
    <p:sldId id="488" r:id="rId13"/>
    <p:sldId id="475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A8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29" autoAdjust="0"/>
    <p:restoredTop sz="94637" autoAdjust="0"/>
  </p:normalViewPr>
  <p:slideViewPr>
    <p:cSldViewPr snapToGrid="0">
      <p:cViewPr varScale="1">
        <p:scale>
          <a:sx n="73" d="100"/>
          <a:sy n="73" d="100"/>
        </p:scale>
        <p:origin x="150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C33A25F-CA06-4BFA-9311-414BFAE52118}" type="datetimeFigureOut">
              <a:rPr lang="ru-RU" smtClean="0"/>
              <a:pPr/>
              <a:t>ср 01.04.26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3F4142C-582B-41F6-87A7-DAAF19FC3D2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498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lnSpc>
                <a:spcPct val="150000"/>
              </a:lnSpc>
              <a:spcAft>
                <a:spcPts val="0"/>
              </a:spcAft>
            </a:pPr>
            <a:endParaRPr lang="ru-RU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4142C-582B-41F6-87A7-DAAF19FC3D22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311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7759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6029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6176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2830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6585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3595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0718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2500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8092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2925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8304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4142C-582B-41F6-87A7-DAAF19FC3D22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210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5194CF-73CC-7023-5BD4-38D1075DA86B}"/>
              </a:ext>
            </a:extLst>
          </p:cNvPr>
          <p:cNvSpPr/>
          <p:nvPr userDrawn="1"/>
        </p:nvSpPr>
        <p:spPr>
          <a:xfrm>
            <a:off x="137556" y="145473"/>
            <a:ext cx="11916889" cy="6567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A7A4F95-BABF-026C-9BE1-8D6AF2CB1F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1625" y="346863"/>
            <a:ext cx="1290404" cy="1426548"/>
          </a:xfrm>
          <a:prstGeom prst="rect">
            <a:avLst/>
          </a:prstGeom>
        </p:spPr>
      </p:pic>
      <p:sp>
        <p:nvSpPr>
          <p:cNvPr id="9" name="Заголовок 19">
            <a:extLst>
              <a:ext uri="{FF2B5EF4-FFF2-40B4-BE49-F238E27FC236}">
                <a16:creationId xmlns:a16="http://schemas.microsoft.com/office/drawing/2014/main" id="{F84A702E-A3B9-0B89-5DD7-0B247DD0B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5623" y="2439839"/>
            <a:ext cx="7900755" cy="1978323"/>
          </a:xfrm>
        </p:spPr>
        <p:txBody>
          <a:bodyPr lIns="0" tIns="0" rIns="0" bIns="0" anchor="t"/>
          <a:lstStyle>
            <a:lvl1pPr algn="ctr">
              <a:lnSpc>
                <a:spcPct val="100000"/>
              </a:lnSpc>
              <a:defRPr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Это заголовок, который</a:t>
            </a:r>
            <a:br>
              <a:rPr lang="ru-RU" dirty="0"/>
            </a:br>
            <a:r>
              <a:rPr lang="ru-RU" dirty="0"/>
              <a:t>можно набрать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28CC4A44-3A18-4222-1B74-E04AA0B55C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45623" y="4976813"/>
            <a:ext cx="7900755" cy="652860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Если нужно больше места, используйте подзаголовок (18pt)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009727-304C-E79E-52FD-C671878884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9971" y="269556"/>
            <a:ext cx="1581162" cy="158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2405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F3CB2E9-EF17-F819-648E-367B5B1D8D54}"/>
              </a:ext>
            </a:extLst>
          </p:cNvPr>
          <p:cNvSpPr/>
          <p:nvPr userDrawn="1"/>
        </p:nvSpPr>
        <p:spPr>
          <a:xfrm>
            <a:off x="137555" y="145473"/>
            <a:ext cx="11916889" cy="6567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B3300-5294-EC63-EEE9-1054A85BF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0953" y="382659"/>
            <a:ext cx="9701675" cy="777025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Это заголовок, который можно набрать</a:t>
            </a:r>
            <a:br>
              <a:rPr lang="ru-RU" dirty="0"/>
            </a:br>
            <a:r>
              <a:rPr lang="ru-RU" dirty="0"/>
              <a:t>в 2 строки (24pt)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12F1B-7F6E-F7EE-BFB7-EE6665B5E657}"/>
              </a:ext>
            </a:extLst>
          </p:cNvPr>
          <p:cNvSpPr txBox="1"/>
          <p:nvPr/>
        </p:nvSpPr>
        <p:spPr>
          <a:xfrm>
            <a:off x="11191188" y="648064"/>
            <a:ext cx="604637" cy="246220"/>
          </a:xfrm>
          <a:prstGeom prst="rect">
            <a:avLst/>
          </a:prstGeom>
          <a:noFill/>
        </p:spPr>
        <p:txBody>
          <a:bodyPr wrap="none" lIns="0" tIns="0" rIns="0" bIns="0" rtlCol="0">
            <a:normAutofit/>
          </a:bodyPr>
          <a:lstStyle/>
          <a:p>
            <a:pPr algn="ctr"/>
            <a:fld id="{A9A12144-B048-40FB-9548-0A0014624C84}" type="slidenum">
              <a:rPr lang="ru-RU" sz="1600" smtClean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ru-RU" sz="160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095276-7EE2-A5CC-5F42-524CAC0CA1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" b="836"/>
          <a:stretch/>
        </p:blipFill>
        <p:spPr>
          <a:xfrm>
            <a:off x="349137" y="382659"/>
            <a:ext cx="790236" cy="7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93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Заголовок и объект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910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74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0EE35-54A4-381F-DC2D-794FCB00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CE5D33-EC19-14A9-95D4-DDB5DAD6D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06EDB4-E88A-3DDF-6FC2-2491C34D4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C4AC1054-0E4E-4614-803E-B9C80392E491}" type="datetimeFigureOut">
              <a:rPr lang="ru-RU" smtClean="0"/>
              <a:pPr/>
              <a:t>ср 01.04.26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E650D9-9C53-F0D8-67DA-539116F40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7CD09C-EF19-8923-901B-050DD976C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A4D1DC5-C2D1-4D9A-8A01-5A5A676431D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388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3" r:id="rId2"/>
    <p:sldLayoutId id="2147483674" r:id="rId3"/>
    <p:sldLayoutId id="214748367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8dShF1tFSDg0ZmJi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44DFBCE-0A5E-245B-3393-888D66D4F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1915964"/>
            <a:ext cx="10534650" cy="1513036"/>
          </a:xfrm>
        </p:spPr>
        <p:txBody>
          <a:bodyPr>
            <a:normAutofit/>
          </a:bodyPr>
          <a:lstStyle/>
          <a:p>
            <a:r>
              <a:rPr lang="ru-RU" dirty="0">
                <a:latin typeface="+mn-lt"/>
              </a:rPr>
              <a:t>Лекция 15</a:t>
            </a:r>
            <a:br>
              <a:rPr lang="ru-RU" dirty="0">
                <a:latin typeface="+mn-lt"/>
              </a:rPr>
            </a:br>
            <a:r>
              <a:rPr lang="ru-RU" dirty="0">
                <a:latin typeface="+mn-lt"/>
              </a:rPr>
              <a:t>Большие языковые модели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BB2B8E-A8C7-4A7F-B4C1-BF4B8E0AA97E}"/>
              </a:ext>
            </a:extLst>
          </p:cNvPr>
          <p:cNvSpPr txBox="1"/>
          <p:nvPr/>
        </p:nvSpPr>
        <p:spPr>
          <a:xfrm>
            <a:off x="1573126" y="4609960"/>
            <a:ext cx="8159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А. Адаптация</a:t>
            </a:r>
          </a:p>
          <a:p>
            <a:r>
              <a:rPr lang="ru-RU" dirty="0"/>
              <a:t>Б. Дистилляция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/>
              <a:t>В. Предпочтения</a:t>
            </a:r>
          </a:p>
        </p:txBody>
      </p:sp>
    </p:spTree>
    <p:extLst>
      <p:ext uri="{BB962C8B-B14F-4D97-AF65-F5344CB8AC3E}">
        <p14:creationId xmlns:p14="http://schemas.microsoft.com/office/powerpoint/2010/main" val="3262581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1245162" y="268699"/>
            <a:ext cx="970167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 dirty="0" err="1"/>
              <a:t>БЯМ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DFBAAD-67A9-4007-A99D-A73A9E853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49" y="1106515"/>
            <a:ext cx="6547154" cy="343725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716F11-3E4D-4895-97D0-B41B5241E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908" y="984331"/>
            <a:ext cx="4990273" cy="48893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5E42C6-0A21-48EF-8B83-3B6BCA869DDC}"/>
              </a:ext>
            </a:extLst>
          </p:cNvPr>
          <p:cNvSpPr txBox="1"/>
          <p:nvPr/>
        </p:nvSpPr>
        <p:spPr>
          <a:xfrm>
            <a:off x="8720824" y="6404635"/>
            <a:ext cx="2692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https://llm-timeline.com/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08659-61CC-478C-AFF1-19A01DF4D5BE}"/>
              </a:ext>
            </a:extLst>
          </p:cNvPr>
          <p:cNvSpPr txBox="1"/>
          <p:nvPr/>
        </p:nvSpPr>
        <p:spPr>
          <a:xfrm>
            <a:off x="4972719" y="6404635"/>
            <a:ext cx="3247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https://lifearchitect.ai/timeline/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9E6AE-F65F-4D48-93A2-C16FCED3DBE2}"/>
              </a:ext>
            </a:extLst>
          </p:cNvPr>
          <p:cNvSpPr txBox="1"/>
          <p:nvPr/>
        </p:nvSpPr>
        <p:spPr>
          <a:xfrm>
            <a:off x="186449" y="4550229"/>
            <a:ext cx="66634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десятки миллиардов - триллион весов* </a:t>
            </a:r>
          </a:p>
          <a:p>
            <a:r>
              <a:rPr lang="ru-RU" sz="1600" dirty="0"/>
              <a:t>сотни тысяч - миллион токенов контекста (</a:t>
            </a:r>
            <a:r>
              <a:rPr lang="en-US" sz="1600" dirty="0"/>
              <a:t>~ </a:t>
            </a:r>
            <a:r>
              <a:rPr lang="ru-RU" sz="1600" dirty="0"/>
              <a:t>книжка типа Война и мир)</a:t>
            </a:r>
          </a:p>
          <a:p>
            <a:r>
              <a:rPr lang="ru-RU" sz="1600" dirty="0"/>
              <a:t>сотни – тысячи токенов в секунду</a:t>
            </a:r>
          </a:p>
          <a:p>
            <a:r>
              <a:rPr lang="ru-RU" sz="1600" dirty="0"/>
              <a:t>десятки триллионов токенов в обучении (</a:t>
            </a:r>
            <a:r>
              <a:rPr lang="en-US" sz="1600" dirty="0"/>
              <a:t>~</a:t>
            </a:r>
            <a:r>
              <a:rPr lang="ru-RU" sz="1600" dirty="0"/>
              <a:t> 1000 Википедий)</a:t>
            </a:r>
          </a:p>
          <a:p>
            <a:r>
              <a:rPr lang="ru-RU" sz="1600" dirty="0"/>
              <a:t>сотни тысяч – миллионы </a:t>
            </a:r>
            <a:r>
              <a:rPr lang="en-US" sz="1600" dirty="0"/>
              <a:t>GPU</a:t>
            </a:r>
            <a:r>
              <a:rPr lang="ru-RU" sz="1600" dirty="0"/>
              <a:t> часов (</a:t>
            </a:r>
            <a:r>
              <a:rPr lang="en-US" sz="1600" dirty="0"/>
              <a:t>~</a:t>
            </a:r>
            <a:r>
              <a:rPr lang="ru-RU" sz="1600" dirty="0"/>
              <a:t>100 лет непрерывно): стойки из десятков тысяч </a:t>
            </a:r>
            <a:r>
              <a:rPr lang="en-US" sz="1600" dirty="0"/>
              <a:t>GPU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85838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1245162" y="268699"/>
            <a:ext cx="970167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 dirty="0"/>
              <a:t>Адаптация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50C7D-10E6-4F39-A1B5-3EA157DE28E3}"/>
              </a:ext>
            </a:extLst>
          </p:cNvPr>
          <p:cNvSpPr txBox="1"/>
          <p:nvPr/>
        </p:nvSpPr>
        <p:spPr>
          <a:xfrm>
            <a:off x="4058866" y="861058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Parameter-Efficient Fine-Tuning (</a:t>
            </a:r>
            <a:r>
              <a:rPr lang="en-US" dirty="0" err="1"/>
              <a:t>PEFT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59FC5F-418B-48BF-AEA3-B0416C88D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00" y="1396122"/>
            <a:ext cx="7380512" cy="40657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8E48A4-B886-4D9E-8D6B-1D320C9C6C96}"/>
              </a:ext>
            </a:extLst>
          </p:cNvPr>
          <p:cNvSpPr txBox="1"/>
          <p:nvPr/>
        </p:nvSpPr>
        <p:spPr>
          <a:xfrm>
            <a:off x="8326877" y="1624519"/>
            <a:ext cx="35116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Методы:</a:t>
            </a:r>
            <a:endParaRPr lang="en-US" dirty="0"/>
          </a:p>
          <a:p>
            <a:r>
              <a:rPr lang="en-US" dirty="0"/>
              <a:t>- </a:t>
            </a:r>
            <a:r>
              <a:rPr lang="ru-RU" dirty="0"/>
              <a:t>параметризация</a:t>
            </a:r>
          </a:p>
          <a:p>
            <a:r>
              <a:rPr lang="ru-RU" dirty="0"/>
              <a:t>- адаптеры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823775-1695-432D-AAF9-1906B0903F25}"/>
              </a:ext>
            </a:extLst>
          </p:cNvPr>
          <p:cNvSpPr txBox="1"/>
          <p:nvPr/>
        </p:nvSpPr>
        <p:spPr>
          <a:xfrm>
            <a:off x="634730" y="6219969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https://habr.com/ru/articles/791966/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063CD6-DBCD-4BC1-B21F-7CDE6CBA28AB}"/>
              </a:ext>
            </a:extLst>
          </p:cNvPr>
          <p:cNvSpPr txBox="1"/>
          <p:nvPr/>
        </p:nvSpPr>
        <p:spPr>
          <a:xfrm>
            <a:off x="5278877" y="61304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https://huggingface.co/blog/samuellimabraz/peft-methods</a:t>
            </a:r>
          </a:p>
        </p:txBody>
      </p:sp>
    </p:spTree>
    <p:extLst>
      <p:ext uri="{BB962C8B-B14F-4D97-AF65-F5344CB8AC3E}">
        <p14:creationId xmlns:p14="http://schemas.microsoft.com/office/powerpoint/2010/main" val="67065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1245162" y="268699"/>
            <a:ext cx="970167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 dirty="0"/>
              <a:t>Адаптация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50C7D-10E6-4F39-A1B5-3EA157DE28E3}"/>
              </a:ext>
            </a:extLst>
          </p:cNvPr>
          <p:cNvSpPr txBox="1"/>
          <p:nvPr/>
        </p:nvSpPr>
        <p:spPr>
          <a:xfrm>
            <a:off x="4058866" y="861058"/>
            <a:ext cx="2769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Параметризация </a:t>
            </a:r>
            <a:r>
              <a:rPr lang="en-US" b="1" dirty="0"/>
              <a:t>LoRa</a:t>
            </a:r>
            <a:endParaRPr lang="ru-RU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E48A4-B886-4D9E-8D6B-1D320C9C6C96}"/>
              </a:ext>
            </a:extLst>
          </p:cNvPr>
          <p:cNvSpPr txBox="1"/>
          <p:nvPr/>
        </p:nvSpPr>
        <p:spPr>
          <a:xfrm>
            <a:off x="184826" y="1624519"/>
            <a:ext cx="38740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частной задачи параметры избыточны:</a:t>
            </a:r>
          </a:p>
          <a:p>
            <a:r>
              <a:rPr lang="ru-RU" dirty="0"/>
              <a:t>Использовать (обучать) меньшее число параметров.</a:t>
            </a:r>
          </a:p>
          <a:p>
            <a:r>
              <a:rPr lang="ru-RU" dirty="0"/>
              <a:t>Какие из них? Не знаем.</a:t>
            </a:r>
          </a:p>
          <a:p>
            <a:r>
              <a:rPr lang="ru-RU" dirty="0"/>
              <a:t>Обучаем «все» но не напрямую:</a:t>
            </a:r>
          </a:p>
          <a:p>
            <a:r>
              <a:rPr lang="ru-RU" dirty="0"/>
              <a:t>Заменим матрицу весов на произведение двух меньшего ранга.</a:t>
            </a:r>
          </a:p>
          <a:p>
            <a:r>
              <a:rPr lang="ru-RU" dirty="0"/>
              <a:t>Основная матрица «заморожена», части</a:t>
            </a:r>
            <a:r>
              <a:rPr lang="en-US" dirty="0"/>
              <a:t> </a:t>
            </a:r>
            <a:r>
              <a:rPr lang="ru-RU" dirty="0"/>
              <a:t> параметризованной обучаются. Итоговые веса – объединение (сумма) исходных и параметризованных </a:t>
            </a:r>
          </a:p>
          <a:p>
            <a:r>
              <a:rPr lang="ru-RU" dirty="0"/>
              <a:t>   </a:t>
            </a:r>
          </a:p>
        </p:txBody>
      </p:sp>
      <p:pic>
        <p:nvPicPr>
          <p:cNvPr id="2052" name="Picture 4" descr="Forward pass with updated model.  ">
            <a:extLst>
              <a:ext uri="{FF2B5EF4-FFF2-40B4-BE49-F238E27FC236}">
                <a16:creationId xmlns:a16="http://schemas.microsoft.com/office/drawing/2014/main" id="{B709A6FB-2A41-4248-A0C2-8C21E2F651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2" r="19962"/>
          <a:stretch/>
        </p:blipFill>
        <p:spPr bwMode="auto">
          <a:xfrm>
            <a:off x="3852153" y="1273448"/>
            <a:ext cx="4073731" cy="439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7F6F24-C9D7-4F00-B1A2-5E84AA262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330" y="5624562"/>
            <a:ext cx="2133333" cy="6476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00D513-C565-47DB-821C-729EB393E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090" y="5686466"/>
            <a:ext cx="1914286" cy="5238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8A8FEE-A13A-4986-BF3B-48EE90F37114}"/>
              </a:ext>
            </a:extLst>
          </p:cNvPr>
          <p:cNvSpPr txBox="1"/>
          <p:nvPr/>
        </p:nvSpPr>
        <p:spPr>
          <a:xfrm>
            <a:off x="3770794" y="6130573"/>
            <a:ext cx="4650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инициализация: А - случайно, В - нулями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013AC-36F2-4BEF-A52F-8713787CCC7A}"/>
              </a:ext>
            </a:extLst>
          </p:cNvPr>
          <p:cNvSpPr txBox="1"/>
          <p:nvPr/>
        </p:nvSpPr>
        <p:spPr>
          <a:xfrm>
            <a:off x="8579795" y="995407"/>
            <a:ext cx="31031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+ квантование = </a:t>
            </a:r>
            <a:r>
              <a:rPr lang="en-US" b="1" dirty="0" err="1"/>
              <a:t>QLoRa</a:t>
            </a:r>
            <a:endParaRPr lang="en-US" b="1" dirty="0"/>
          </a:p>
          <a:p>
            <a:r>
              <a:rPr lang="ru-RU" dirty="0"/>
              <a:t>квантовать до 4 бит исходную, но обучаться на 32 бит адаптеров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6F2F16B9-82EF-4CF4-807A-74BEE1F33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071" y="2294488"/>
            <a:ext cx="3858632" cy="159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9D535B2-266B-49C9-884B-D0FBD0B8DDDA}"/>
              </a:ext>
            </a:extLst>
          </p:cNvPr>
          <p:cNvSpPr txBox="1"/>
          <p:nvPr/>
        </p:nvSpPr>
        <p:spPr>
          <a:xfrm>
            <a:off x="9176966" y="4212110"/>
            <a:ext cx="1908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LoRa</a:t>
            </a:r>
            <a:r>
              <a:rPr lang="ru-RU" b="1" dirty="0"/>
              <a:t>: до </a:t>
            </a:r>
            <a:r>
              <a:rPr lang="ru-RU" b="1" dirty="0" err="1"/>
              <a:t>7В</a:t>
            </a:r>
            <a:endParaRPr lang="ru-RU" b="1" dirty="0"/>
          </a:p>
          <a:p>
            <a:r>
              <a:rPr lang="en-US" b="1" dirty="0" err="1"/>
              <a:t>QLoRa</a:t>
            </a:r>
            <a:r>
              <a:rPr lang="ru-RU" b="1" dirty="0"/>
              <a:t>: до </a:t>
            </a:r>
            <a:r>
              <a:rPr lang="ru-RU" b="1" dirty="0" err="1"/>
              <a:t>70В</a:t>
            </a:r>
            <a:endParaRPr lang="ru-RU" b="1" dirty="0"/>
          </a:p>
          <a:p>
            <a:r>
              <a:rPr lang="ru-RU" dirty="0"/>
              <a:t>(</a:t>
            </a:r>
            <a:r>
              <a:rPr lang="en-US" dirty="0"/>
              <a:t>GPU 24-</a:t>
            </a:r>
            <a:r>
              <a:rPr lang="en-US" dirty="0" err="1"/>
              <a:t>40Gb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1312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1245162" y="268699"/>
            <a:ext cx="970167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 dirty="0"/>
              <a:t>Адаптация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50C7D-10E6-4F39-A1B5-3EA157DE28E3}"/>
              </a:ext>
            </a:extLst>
          </p:cNvPr>
          <p:cNvSpPr txBox="1"/>
          <p:nvPr/>
        </p:nvSpPr>
        <p:spPr>
          <a:xfrm>
            <a:off x="2584520" y="861058"/>
            <a:ext cx="4244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Обучение </a:t>
            </a:r>
            <a:r>
              <a:rPr lang="ru-RU" b="1" strike="sngStrike" dirty="0"/>
              <a:t>промптов</a:t>
            </a:r>
            <a:r>
              <a:rPr lang="ru-RU" b="1" dirty="0"/>
              <a:t> </a:t>
            </a:r>
            <a:r>
              <a:rPr lang="ru-RU" b="1" dirty="0" err="1"/>
              <a:t>эмбеддингов</a:t>
            </a:r>
            <a:endParaRPr lang="ru-RU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E48A4-B886-4D9E-8D6B-1D320C9C6C96}"/>
              </a:ext>
            </a:extLst>
          </p:cNvPr>
          <p:cNvSpPr txBox="1"/>
          <p:nvPr/>
        </p:nvSpPr>
        <p:spPr>
          <a:xfrm>
            <a:off x="175300" y="1499583"/>
            <a:ext cx="4615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trike="sngStrike" dirty="0"/>
              <a:t>Жесткие </a:t>
            </a:r>
            <a:r>
              <a:rPr lang="ru-RU" strike="sngStrike" dirty="0" err="1"/>
              <a:t>промпты</a:t>
            </a:r>
            <a:r>
              <a:rPr lang="ru-RU" strike="sngStrike" dirty="0"/>
              <a:t> – сделаны вручную</a:t>
            </a:r>
          </a:p>
          <a:p>
            <a:r>
              <a:rPr lang="ru-RU" dirty="0"/>
              <a:t>Мягкие </a:t>
            </a:r>
            <a:r>
              <a:rPr lang="ru-RU" dirty="0" err="1"/>
              <a:t>промпты</a:t>
            </a:r>
            <a:r>
              <a:rPr lang="ru-RU" dirty="0"/>
              <a:t> – обучаются под задачу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013AC-36F2-4BEF-A52F-8713787CCC7A}"/>
              </a:ext>
            </a:extLst>
          </p:cNvPr>
          <p:cNvSpPr txBox="1"/>
          <p:nvPr/>
        </p:nvSpPr>
        <p:spPr>
          <a:xfrm>
            <a:off x="271465" y="3188112"/>
            <a:ext cx="5481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Prefix tuning </a:t>
            </a:r>
            <a:r>
              <a:rPr lang="ru-RU" b="1" dirty="0"/>
              <a:t>– обучаем только </a:t>
            </a:r>
            <a:r>
              <a:rPr lang="ru-RU" b="1" dirty="0" err="1"/>
              <a:t>эмбеддинги</a:t>
            </a:r>
            <a:r>
              <a:rPr lang="ru-RU" b="1" dirty="0"/>
              <a:t> префиксов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FFE6BBE-CDD5-4593-9EEE-D0E8B7377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925" y="861057"/>
            <a:ext cx="4015173" cy="3304153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75CDAB0-278F-4FB8-B112-E157B6F11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9" y="3669888"/>
            <a:ext cx="5548592" cy="291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634D84-7366-44A2-86ED-5EFD5816D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418" y="4415922"/>
            <a:ext cx="2627711" cy="193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3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1245162" y="268699"/>
            <a:ext cx="970167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 dirty="0"/>
              <a:t>Адаптация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50C7D-10E6-4F39-A1B5-3EA157DE28E3}"/>
              </a:ext>
            </a:extLst>
          </p:cNvPr>
          <p:cNvSpPr txBox="1"/>
          <p:nvPr/>
        </p:nvSpPr>
        <p:spPr>
          <a:xfrm>
            <a:off x="2584520" y="861058"/>
            <a:ext cx="4244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Адаптер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E48A4-B886-4D9E-8D6B-1D320C9C6C96}"/>
              </a:ext>
            </a:extLst>
          </p:cNvPr>
          <p:cNvSpPr txBox="1"/>
          <p:nvPr/>
        </p:nvSpPr>
        <p:spPr>
          <a:xfrm>
            <a:off x="213399" y="1308696"/>
            <a:ext cx="562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Обучаем только небольшие «пристройки» к слоям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EB53ADA-2323-4950-B849-B243FC8E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824" y="1045724"/>
            <a:ext cx="6044014" cy="323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BA2A2ED-0E24-437C-8DF6-6236E2B4B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44" y="1941000"/>
            <a:ext cx="5335735" cy="274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215ECB-00B5-4524-A0F5-97BB0D4CDA03}"/>
              </a:ext>
            </a:extLst>
          </p:cNvPr>
          <p:cNvSpPr txBox="1"/>
          <p:nvPr/>
        </p:nvSpPr>
        <p:spPr>
          <a:xfrm>
            <a:off x="104775" y="6388566"/>
            <a:ext cx="11889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https://magazine.sebastianraschka.com/p/finetuning-llms-with-adapters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C2E32D-7889-47C4-8C26-477CB144A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991" y="3834884"/>
            <a:ext cx="2118015" cy="255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21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1245162" y="268699"/>
            <a:ext cx="970167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 dirty="0"/>
              <a:t>Адаптация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50C7D-10E6-4F39-A1B5-3EA157DE28E3}"/>
              </a:ext>
            </a:extLst>
          </p:cNvPr>
          <p:cNvSpPr txBox="1"/>
          <p:nvPr/>
        </p:nvSpPr>
        <p:spPr>
          <a:xfrm>
            <a:off x="2584520" y="861058"/>
            <a:ext cx="4244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Выборочные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E48A4-B886-4D9E-8D6B-1D320C9C6C96}"/>
              </a:ext>
            </a:extLst>
          </p:cNvPr>
          <p:cNvSpPr txBox="1"/>
          <p:nvPr/>
        </p:nvSpPr>
        <p:spPr>
          <a:xfrm>
            <a:off x="213399" y="1308696"/>
            <a:ext cx="56254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Настраиваем только «кусочки» сети:</a:t>
            </a:r>
          </a:p>
          <a:p>
            <a:r>
              <a:rPr lang="ru-RU" dirty="0"/>
              <a:t>- только последние слои</a:t>
            </a:r>
          </a:p>
          <a:p>
            <a:r>
              <a:rPr lang="ru-RU" dirty="0"/>
              <a:t>- только смещения, а не веса </a:t>
            </a:r>
            <a:r>
              <a:rPr lang="en-US" dirty="0"/>
              <a:t>(</a:t>
            </a:r>
            <a:r>
              <a:rPr lang="en-US" dirty="0" err="1"/>
              <a:t>BitFit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- только параметры по маске «важности»:</a:t>
            </a:r>
          </a:p>
          <a:p>
            <a:r>
              <a:rPr lang="ru-RU" dirty="0"/>
              <a:t>- - </a:t>
            </a:r>
            <a:r>
              <a:rPr lang="en-US" dirty="0" err="1"/>
              <a:t>DiffPruning</a:t>
            </a:r>
            <a:r>
              <a:rPr lang="ru-RU" dirty="0"/>
              <a:t> – бинарная маска обучается вместе с весами</a:t>
            </a:r>
          </a:p>
          <a:p>
            <a:r>
              <a:rPr lang="ru-RU" dirty="0"/>
              <a:t>- - </a:t>
            </a:r>
            <a:r>
              <a:rPr lang="en-US" dirty="0"/>
              <a:t>FAR – </a:t>
            </a:r>
            <a:r>
              <a:rPr lang="ru-RU" dirty="0"/>
              <a:t>обучением выделяются наиболее полезные части, они меняют веса</a:t>
            </a:r>
          </a:p>
          <a:p>
            <a:r>
              <a:rPr lang="ru-RU" dirty="0"/>
              <a:t>- -  </a:t>
            </a:r>
            <a:r>
              <a:rPr lang="en-US" dirty="0" err="1"/>
              <a:t>FishMask</a:t>
            </a:r>
            <a:r>
              <a:rPr lang="ru-RU" dirty="0"/>
              <a:t> – рассчитывается «чувствительность» (по градиентам) для параметров, и только самые важные изменяются</a:t>
            </a:r>
          </a:p>
          <a:p>
            <a:endParaRPr lang="ru-RU" dirty="0"/>
          </a:p>
          <a:p>
            <a:r>
              <a:rPr lang="ru-RU" dirty="0"/>
              <a:t>и др. ….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215ECB-00B5-4524-A0F5-97BB0D4CDA03}"/>
              </a:ext>
            </a:extLst>
          </p:cNvPr>
          <p:cNvSpPr txBox="1"/>
          <p:nvPr/>
        </p:nvSpPr>
        <p:spPr>
          <a:xfrm>
            <a:off x="104775" y="6388566"/>
            <a:ext cx="11889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https://magazine.sebastianraschka.com/p/finetuning-llms-with-adapters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3D36B7-8442-4F29-9C43-265D195EB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176" y="2548513"/>
            <a:ext cx="3309937" cy="176097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36DC8E-A1A0-4667-9B92-6814D66C0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938" y="4309487"/>
            <a:ext cx="6238875" cy="2084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245E09-8E3C-4CF4-93F4-A2C27A92861F}"/>
              </a:ext>
            </a:extLst>
          </p:cNvPr>
          <p:cNvSpPr txBox="1"/>
          <p:nvPr/>
        </p:nvSpPr>
        <p:spPr>
          <a:xfrm>
            <a:off x="241369" y="5226138"/>
            <a:ext cx="4686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* обучение масок делаем на меньшем, калибровочном, наборе</a:t>
            </a:r>
          </a:p>
        </p:txBody>
      </p:sp>
    </p:spTree>
    <p:extLst>
      <p:ext uri="{BB962C8B-B14F-4D97-AF65-F5344CB8AC3E}">
        <p14:creationId xmlns:p14="http://schemas.microsoft.com/office/powerpoint/2010/main" val="3811571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1245162" y="268699"/>
            <a:ext cx="970167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 dirty="0"/>
              <a:t>Дистилляция</a:t>
            </a:r>
            <a:endParaRPr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8F93D0F-24D4-435B-B032-8323E3F9A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05" y="1145237"/>
            <a:ext cx="4516946" cy="228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C3FB32-6B81-43B9-9647-87C34CE508C8}"/>
              </a:ext>
            </a:extLst>
          </p:cNvPr>
          <p:cNvSpPr txBox="1"/>
          <p:nvPr/>
        </p:nvSpPr>
        <p:spPr>
          <a:xfrm>
            <a:off x="340805" y="3708409"/>
            <a:ext cx="4421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- черный ящик</a:t>
            </a:r>
          </a:p>
          <a:p>
            <a:r>
              <a:rPr lang="ru-RU" dirty="0"/>
              <a:t>- белый ящик</a:t>
            </a:r>
          </a:p>
          <a:p>
            <a:r>
              <a:rPr lang="ru-RU" dirty="0"/>
              <a:t>- задача-ориентированная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E73CFC-1F04-45A0-9323-E1696A424425}"/>
              </a:ext>
            </a:extLst>
          </p:cNvPr>
          <p:cNvSpPr txBox="1"/>
          <p:nvPr/>
        </p:nvSpPr>
        <p:spPr>
          <a:xfrm>
            <a:off x="168064" y="62740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https://arxiv.org/pdf/2402.13116</a:t>
            </a:r>
            <a:endParaRPr lang="ru-RU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2329DE69-63F9-45C9-A3CA-769059E00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013" y="1145237"/>
            <a:ext cx="5940742" cy="396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283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1245162" y="268699"/>
            <a:ext cx="970167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 dirty="0"/>
              <a:t>Дистилляция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45905-7A1C-4F22-8589-4B9D67951B15}"/>
              </a:ext>
            </a:extLst>
          </p:cNvPr>
          <p:cNvSpPr txBox="1"/>
          <p:nvPr/>
        </p:nvSpPr>
        <p:spPr>
          <a:xfrm>
            <a:off x="277586" y="6219969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https://arxiv.org/pdf/2006.05525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178F1F-E579-440A-9B89-7F9FB157E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48" y="883241"/>
            <a:ext cx="11137520" cy="5336728"/>
          </a:xfrm>
          <a:prstGeom prst="rect">
            <a:avLst/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547B7028-2090-4B91-ADEF-F708C4604795}"/>
              </a:ext>
            </a:extLst>
          </p:cNvPr>
          <p:cNvSpPr/>
          <p:nvPr/>
        </p:nvSpPr>
        <p:spPr>
          <a:xfrm>
            <a:off x="10398034" y="2913017"/>
            <a:ext cx="1423852" cy="6385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302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1245162" y="268699"/>
            <a:ext cx="970167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Neural Architecture Search (NAS)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3F0A6-2AE6-4687-93FB-E5F9272E7786}"/>
              </a:ext>
            </a:extLst>
          </p:cNvPr>
          <p:cNvSpPr txBox="1"/>
          <p:nvPr/>
        </p:nvSpPr>
        <p:spPr>
          <a:xfrm>
            <a:off x="316775" y="6219969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https://theaisummer.com/neural-architecture-search/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F0FC61-2742-4F01-9D84-641D6C9C1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75" y="1270090"/>
            <a:ext cx="8950071" cy="243976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3DF1319-828D-40DA-9BA6-DFC9B1B4A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7748" y="3301117"/>
            <a:ext cx="3842919" cy="276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54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1245162" y="268699"/>
            <a:ext cx="970167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Reinforcement Learning from Human Feedback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679F01-DFCC-475F-B9A9-74D89CD1B1F8}"/>
              </a:ext>
            </a:extLst>
          </p:cNvPr>
          <p:cNvSpPr txBox="1"/>
          <p:nvPr/>
        </p:nvSpPr>
        <p:spPr>
          <a:xfrm>
            <a:off x="199209" y="6219969"/>
            <a:ext cx="9701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https://elibrary-dev.nusamandiri.ac.id/assets/fileebook/250153.pdf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695C08-16AA-4A34-B5D2-6D18B7815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780" y="914400"/>
            <a:ext cx="4663440" cy="46634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CA2884-81C0-461D-9A36-D2102D8596A2}"/>
              </a:ext>
            </a:extLst>
          </p:cNvPr>
          <p:cNvSpPr txBox="1"/>
          <p:nvPr/>
        </p:nvSpPr>
        <p:spPr>
          <a:xfrm>
            <a:off x="7811426" y="5758304"/>
            <a:ext cx="41813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https://pub.towardsai.net/rlhf-the-engine-tuning-human-values-into-large-language-models-9c4bfd75fc79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4632DC6-00F0-40E2-AD20-92C73E26B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09" y="1347184"/>
            <a:ext cx="6371571" cy="261174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AAD44B3-D15F-44CF-8C24-8132984A5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95" y="4789407"/>
            <a:ext cx="4902926" cy="110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946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1245162" y="268699"/>
            <a:ext cx="970167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Direct Preference Optimization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9B1E7-4F18-43CE-A5EC-8C5F3023FF37}"/>
              </a:ext>
            </a:extLst>
          </p:cNvPr>
          <p:cNvSpPr txBox="1"/>
          <p:nvPr/>
        </p:nvSpPr>
        <p:spPr>
          <a:xfrm>
            <a:off x="225335" y="5942970"/>
            <a:ext cx="7507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https://www.superannotate.com/blog/direct-preference-optimization-dpo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FC6A96-1CB5-49F3-B743-783CFE2C63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04" t="8739" r="15198" b="7647"/>
          <a:stretch/>
        </p:blipFill>
        <p:spPr>
          <a:xfrm>
            <a:off x="225335" y="1391227"/>
            <a:ext cx="6309361" cy="4206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BDA0EE-D0BF-401F-9705-F970BDC32BD1}"/>
              </a:ext>
            </a:extLst>
          </p:cNvPr>
          <p:cNvSpPr txBox="1"/>
          <p:nvPr/>
        </p:nvSpPr>
        <p:spPr>
          <a:xfrm>
            <a:off x="7318467" y="963112"/>
            <a:ext cx="3954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https://habr.com/ru/articles/1002298/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AEBA3C-E3D1-4765-A8D3-EA717BFD7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1" y="1475804"/>
            <a:ext cx="4508781" cy="432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62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18BEE-B954-B9EA-C0C2-5AE5C86D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 </a:t>
            </a:r>
            <a:r>
              <a:rPr lang="ru-RU" dirty="0"/>
              <a:t>и контакты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3FE5D714-B1B9-154D-E72D-E22E949E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719" y="1726911"/>
            <a:ext cx="3682560" cy="883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dirty="0">
                <a:cs typeface="Arial" panose="020B0604020202020204" pitchFamily="34" charset="0"/>
              </a:rPr>
              <a:t>Группа по дисциплине:</a:t>
            </a:r>
            <a:endParaRPr lang="en-US" altLang="ru-RU" dirty="0"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  <a:hlinkClick r:id="rId3"/>
              </a:rPr>
              <a:t>https://t.me/+8dShF1tFSDg0ZmJi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8B486E-15A6-FF58-C89A-629100AB4C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41" t="10871" r="10801" b="11080"/>
          <a:stretch/>
        </p:blipFill>
        <p:spPr>
          <a:xfrm>
            <a:off x="4254719" y="2807336"/>
            <a:ext cx="3682560" cy="366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103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лаборатории доверенного ИИ">
  <a:themeElements>
    <a:clrScheme name="Другая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 лаборатории доверенного ИИ" id="{07074873-844F-4AD0-AF2B-895BEFBA5C54}" vid="{6192E7EF-56D7-4B8E-832B-10AE7B38622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 лаборатории доверенного ИИ</Template>
  <TotalTime>4094</TotalTime>
  <Words>475</Words>
  <Application>Microsoft Office PowerPoint</Application>
  <PresentationFormat>Широкоэкранный</PresentationFormat>
  <Paragraphs>76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Тема лаборатории доверенного ИИ</vt:lpstr>
      <vt:lpstr>Лекция 15 Большие языковые модели</vt:lpstr>
      <vt:lpstr>БЯМ</vt:lpstr>
      <vt:lpstr>Адаптация</vt:lpstr>
      <vt:lpstr>Адаптация</vt:lpstr>
      <vt:lpstr>Адаптация</vt:lpstr>
      <vt:lpstr>Адаптация</vt:lpstr>
      <vt:lpstr>Адаптация</vt:lpstr>
      <vt:lpstr>Дистилляция</vt:lpstr>
      <vt:lpstr>Дистилляция</vt:lpstr>
      <vt:lpstr>Neural Architecture Search (NAS)</vt:lpstr>
      <vt:lpstr>Reinforcement Learning from Human Feedback</vt:lpstr>
      <vt:lpstr>Direct Preference Optimization </vt:lpstr>
      <vt:lpstr>Q&amp;A и контакты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03 Математический праймер для ML</dc:title>
  <dc:creator>Silaev</dc:creator>
  <cp:lastModifiedBy>guntar vladovlanis</cp:lastModifiedBy>
  <cp:revision>620</cp:revision>
  <dcterms:created xsi:type="dcterms:W3CDTF">2025-04-21T23:43:03Z</dcterms:created>
  <dcterms:modified xsi:type="dcterms:W3CDTF">2026-04-01T16:39:38Z</dcterms:modified>
</cp:coreProperties>
</file>